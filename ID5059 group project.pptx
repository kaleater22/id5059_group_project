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59" r:id="rId6"/>
    <p:sldId id="264" r:id="rId7"/>
    <p:sldId id="265" r:id="rId8"/>
    <p:sldId id="266" r:id="rId9"/>
    <p:sldId id="260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75B4D-C650-4723-9383-B0EDFD75FDC5}" v="107" dt="2026-04-18T11:00:32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4CA14-3A11-4854-A8C5-A42C8A57790A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9FC78-ECA7-4178-9886-10793B996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824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9FC78-ECA7-4178-9886-10793B99671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340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Historical Momentum (Lags):</a:t>
            </a:r>
            <a:r>
              <a:rPr lang="en-GB" dirty="0"/>
              <a:t> The strongest predictor is the volume recorded in the previous 60 minutes</a:t>
            </a:r>
            <a:br>
              <a:rPr lang="en-GB" dirty="0"/>
            </a:br>
            <a:r>
              <a:rPr lang="en-GB" b="1" dirty="0"/>
              <a:t>Temporal Features:</a:t>
            </a:r>
            <a:r>
              <a:rPr lang="en-GB" dirty="0"/>
              <a:t> Rider behaviour shifts significantly based on the specific hour of the day and whether it is a weekday or weekend.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19FC78-ECA7-4178-9886-10793B99671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09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508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73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9839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06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72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9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04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27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5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18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93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E8F6D24-7E68-4839-93AD-D14562D8BCAB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AA74E5F-FCE8-4272-B7D3-2C39706361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8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DD534-90BA-9EE2-69FC-992D14A48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Predictive Modelling for Ride-Hailing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D326A-F421-E83C-091A-2B3FFF4AE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Group 23</a:t>
            </a:r>
          </a:p>
        </p:txBody>
      </p:sp>
    </p:spTree>
    <p:extLst>
      <p:ext uri="{BB962C8B-B14F-4D97-AF65-F5344CB8AC3E}">
        <p14:creationId xmlns:p14="http://schemas.microsoft.com/office/powerpoint/2010/main" val="166726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FD8A-62F8-34B0-EF9E-7E5F02E0B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509" y="118942"/>
            <a:ext cx="9692640" cy="1325562"/>
          </a:xfrm>
        </p:spPr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00E6F1-F692-AD6F-3086-081191A29D95}"/>
              </a:ext>
            </a:extLst>
          </p:cNvPr>
          <p:cNvSpPr/>
          <p:nvPr/>
        </p:nvSpPr>
        <p:spPr>
          <a:xfrm>
            <a:off x="1043509" y="1856096"/>
            <a:ext cx="9233255" cy="167867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175579-FFE4-C9FB-C4D7-FB6807C0D514}"/>
              </a:ext>
            </a:extLst>
          </p:cNvPr>
          <p:cNvSpPr/>
          <p:nvPr/>
        </p:nvSpPr>
        <p:spPr>
          <a:xfrm>
            <a:off x="1043509" y="3946362"/>
            <a:ext cx="9233255" cy="167867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C77C2-7F0C-81B6-0690-0DA8AF07B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151" y="2013044"/>
            <a:ext cx="8035664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Demand forecasting: </a:t>
            </a:r>
          </a:p>
          <a:p>
            <a:pPr marL="0" indent="0">
              <a:buNone/>
            </a:pPr>
            <a:r>
              <a:rPr lang="en-GB" sz="2400" dirty="0"/>
              <a:t>Predict how many rides will be requested every hour to optimise driver deployment and minimise wait times.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Revenue optimisation: </a:t>
            </a:r>
          </a:p>
          <a:p>
            <a:pPr marL="0" indent="0">
              <a:buNone/>
            </a:pPr>
            <a:r>
              <a:rPr lang="en-GB" sz="2400" dirty="0"/>
              <a:t>Identify the most profitable times and locations to maximise driver earnings.</a:t>
            </a:r>
          </a:p>
        </p:txBody>
      </p:sp>
      <p:pic>
        <p:nvPicPr>
          <p:cNvPr id="7" name="Graphic 6" descr="Dollar with solid fill">
            <a:extLst>
              <a:ext uri="{FF2B5EF4-FFF2-40B4-BE49-F238E27FC236}">
                <a16:creationId xmlns:a16="http://schemas.microsoft.com/office/drawing/2014/main" id="{8019E000-D09C-BE19-70BC-B3257D7DAD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509" y="4188712"/>
            <a:ext cx="1108882" cy="1108882"/>
          </a:xfrm>
          <a:prstGeom prst="rect">
            <a:avLst/>
          </a:prstGeom>
        </p:spPr>
      </p:pic>
      <p:pic>
        <p:nvPicPr>
          <p:cNvPr id="9" name="Graphic 8" descr="Supply And Demand with solid fill">
            <a:extLst>
              <a:ext uri="{FF2B5EF4-FFF2-40B4-BE49-F238E27FC236}">
                <a16:creationId xmlns:a16="http://schemas.microsoft.com/office/drawing/2014/main" id="{C5F69F22-0A69-5731-7F37-E6F7FC6D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3509" y="2184961"/>
            <a:ext cx="1040642" cy="104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0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5739-561F-07DA-D896-50F626B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39" y="113275"/>
            <a:ext cx="9692640" cy="1325562"/>
          </a:xfrm>
        </p:spPr>
        <p:txBody>
          <a:bodyPr/>
          <a:lstStyle/>
          <a:p>
            <a:r>
              <a:rPr lang="en-GB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A153C-ED6A-E829-496B-0D5CF9B81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564" y="1808328"/>
            <a:ext cx="9283207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We implemented a multi-stage cleaning process to ensure model reliability. This included removing:</a:t>
            </a:r>
          </a:p>
          <a:p>
            <a:r>
              <a:rPr lang="en-GB" sz="2400" b="1" dirty="0"/>
              <a:t>Data anomalies: </a:t>
            </a:r>
            <a:r>
              <a:rPr lang="en-GB" sz="2400" dirty="0"/>
              <a:t>Negative fare amounts, zero-distance trips, missing metadata, and chronologically impossible records.</a:t>
            </a:r>
          </a:p>
          <a:p>
            <a:r>
              <a:rPr lang="en-GB" sz="2400" b="1" dirty="0"/>
              <a:t>Outliers:</a:t>
            </a:r>
            <a:r>
              <a:rPr lang="en-GB" sz="2400" dirty="0"/>
              <a:t> Trips exceeding 5 hours or fares over $100, to prevent rare events from distorting typical operational expectations.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Approximately </a:t>
            </a:r>
            <a:r>
              <a:rPr lang="en-GB" sz="2400" b="1" dirty="0"/>
              <a:t>15%</a:t>
            </a:r>
            <a:r>
              <a:rPr lang="en-GB" sz="2400" dirty="0"/>
              <a:t> of the 41 million raw records were removed.</a:t>
            </a:r>
          </a:p>
        </p:txBody>
      </p:sp>
    </p:spTree>
    <p:extLst>
      <p:ext uri="{BB962C8B-B14F-4D97-AF65-F5344CB8AC3E}">
        <p14:creationId xmlns:p14="http://schemas.microsoft.com/office/powerpoint/2010/main" val="246143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B60DD-CB98-8833-E790-6E7EFE345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315" y="0"/>
            <a:ext cx="9692640" cy="1325562"/>
          </a:xfrm>
        </p:spPr>
        <p:txBody>
          <a:bodyPr/>
          <a:lstStyle/>
          <a:p>
            <a:r>
              <a:rPr lang="en-GB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C9864-DD59-8D1F-0129-FD87EE22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934" y="2419739"/>
            <a:ext cx="9105332" cy="4351337"/>
          </a:xfrm>
        </p:spPr>
        <p:txBody>
          <a:bodyPr>
            <a:normAutofit lnSpcReduction="10000"/>
          </a:bodyPr>
          <a:lstStyle/>
          <a:p>
            <a:r>
              <a:rPr lang="en-GB" sz="2400" b="1" dirty="0"/>
              <a:t>Lag Features:</a:t>
            </a:r>
            <a:r>
              <a:rPr lang="en-GB" sz="2400" dirty="0"/>
              <a:t> 1-hour, 2-hour, and 24-hour look-backs to capture immediate demand momentum.</a:t>
            </a:r>
          </a:p>
          <a:p>
            <a:endParaRPr lang="en-GB" sz="2400" dirty="0"/>
          </a:p>
          <a:p>
            <a:r>
              <a:rPr lang="en-GB" sz="2400" b="1" dirty="0"/>
              <a:t>Temporal &amp; Operational Tags:</a:t>
            </a:r>
            <a:r>
              <a:rPr lang="en-GB" sz="2400" dirty="0"/>
              <a:t> Categorised data by hour, day, month, and specific NYC rush hour windows to differentiate commuting patterns from leisure demand.</a:t>
            </a:r>
          </a:p>
          <a:p>
            <a:endParaRPr lang="en-GB" sz="2400" dirty="0"/>
          </a:p>
          <a:p>
            <a:r>
              <a:rPr lang="en-GB" sz="2400" b="1" dirty="0"/>
              <a:t>Hourly Zone-Level Performance:</a:t>
            </a:r>
            <a:r>
              <a:rPr lang="en-GB" sz="2400" dirty="0"/>
              <a:t> Transformed individual trips into a gapless hourly timeline for all 69 Manhattan zones.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A2D89257-6600-2172-173B-FFE595496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534" y="2341538"/>
            <a:ext cx="914400" cy="914400"/>
          </a:xfrm>
          <a:prstGeom prst="rect">
            <a:avLst/>
          </a:prstGeom>
        </p:spPr>
      </p:pic>
      <p:pic>
        <p:nvPicPr>
          <p:cNvPr id="7" name="Graphic 6" descr="Daily calendar with solid fill">
            <a:extLst>
              <a:ext uri="{FF2B5EF4-FFF2-40B4-BE49-F238E27FC236}">
                <a16:creationId xmlns:a16="http://schemas.microsoft.com/office/drawing/2014/main" id="{3F57E74B-D483-DB20-31C8-F910D4528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534" y="3795344"/>
            <a:ext cx="914400" cy="914400"/>
          </a:xfrm>
          <a:prstGeom prst="rect">
            <a:avLst/>
          </a:prstGeom>
        </p:spPr>
      </p:pic>
      <p:pic>
        <p:nvPicPr>
          <p:cNvPr id="9" name="Graphic 8" descr="Repeat with solid fill">
            <a:extLst>
              <a:ext uri="{FF2B5EF4-FFF2-40B4-BE49-F238E27FC236}">
                <a16:creationId xmlns:a16="http://schemas.microsoft.com/office/drawing/2014/main" id="{56344519-67B3-8A6B-EE5A-CD9EFC27C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534" y="5381688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E6B42C-1053-6E0C-79CE-9FBCDEFD71A0}"/>
              </a:ext>
            </a:extLst>
          </p:cNvPr>
          <p:cNvSpPr txBox="1"/>
          <p:nvPr/>
        </p:nvSpPr>
        <p:spPr>
          <a:xfrm>
            <a:off x="558876" y="1426444"/>
            <a:ext cx="100635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dirty="0"/>
              <a:t>Engineered key features so the models were taught to recognise patterns specific to New York City:</a:t>
            </a:r>
          </a:p>
        </p:txBody>
      </p:sp>
    </p:spTree>
    <p:extLst>
      <p:ext uri="{BB962C8B-B14F-4D97-AF65-F5344CB8AC3E}">
        <p14:creationId xmlns:p14="http://schemas.microsoft.com/office/powerpoint/2010/main" val="163301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08A6-AA63-88AD-F54A-2DD65FAD3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263" y="147395"/>
            <a:ext cx="9692640" cy="1325562"/>
          </a:xfrm>
        </p:spPr>
        <p:txBody>
          <a:bodyPr/>
          <a:lstStyle/>
          <a:p>
            <a:r>
              <a:rPr lang="en-GB" dirty="0"/>
              <a:t>Demand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3A0DD-F6E2-B53D-6FDD-5D3044897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546" y="1883391"/>
            <a:ext cx="10113537" cy="4155744"/>
          </a:xfrm>
        </p:spPr>
        <p:txBody>
          <a:bodyPr>
            <a:normAutofit/>
          </a:bodyPr>
          <a:lstStyle/>
          <a:p>
            <a:r>
              <a:rPr lang="en-GB" sz="2400" b="1" dirty="0"/>
              <a:t>Model Selection</a:t>
            </a:r>
            <a:r>
              <a:rPr lang="en-GB" sz="2400" dirty="0"/>
              <a:t>: We evaluated Linear Regression, Random Forest, and Neural Network, ultimately selecting Random Forest.</a:t>
            </a:r>
          </a:p>
          <a:p>
            <a:endParaRPr lang="en-GB" sz="2400" dirty="0"/>
          </a:p>
          <a:p>
            <a:r>
              <a:rPr lang="en-GB" sz="2400" b="1" dirty="0"/>
              <a:t>Predictive power (R Squared) of 0.91</a:t>
            </a:r>
            <a:r>
              <a:rPr lang="en-GB" sz="2400" dirty="0"/>
              <a:t>- successfully explaining 91% of the real-world variance in Manhattan's hourly demand</a:t>
            </a:r>
          </a:p>
          <a:p>
            <a:endParaRPr lang="en-GB" sz="2400" b="1" dirty="0"/>
          </a:p>
          <a:p>
            <a:r>
              <a:rPr lang="en-GB" sz="2400" b="1" dirty="0"/>
              <a:t>Operation accuracy (MAE) of 13.1</a:t>
            </a:r>
            <a:r>
              <a:rPr lang="en-GB" sz="2400" dirty="0"/>
              <a:t>- our staffing predictions are typically accurate to within 13 rides per hour, per zone.</a:t>
            </a:r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9050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0A2D4-03B8-C661-1194-1419C826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CBD13B-5009-D56D-567D-159DFAEE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14" y="1944806"/>
            <a:ext cx="6657133" cy="462670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8155DD-FD1F-69FC-2DD7-D3537C3EE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7905" y="2221300"/>
            <a:ext cx="3705366" cy="4102137"/>
          </a:xfrm>
        </p:spPr>
        <p:txBody>
          <a:bodyPr>
            <a:normAutofit/>
          </a:bodyPr>
          <a:lstStyle/>
          <a:p>
            <a:r>
              <a:rPr lang="en-GB" sz="2400" dirty="0"/>
              <a:t>Peaks during the early evening weekday work rush- but so does standard deviation. </a:t>
            </a:r>
          </a:p>
          <a:p>
            <a:r>
              <a:rPr lang="en-GB" sz="2400" dirty="0"/>
              <a:t>Demand starts later in the day on weekends.</a:t>
            </a:r>
          </a:p>
          <a:p>
            <a:r>
              <a:rPr lang="en-GB" sz="2400" dirty="0"/>
              <a:t>Sunday exhibits the lowest overall demand.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98E13-17A6-E107-4A3B-2EDE866F8E6D}"/>
              </a:ext>
            </a:extLst>
          </p:cNvPr>
          <p:cNvSpPr txBox="1"/>
          <p:nvPr/>
        </p:nvSpPr>
        <p:spPr>
          <a:xfrm>
            <a:off x="381514" y="534563"/>
            <a:ext cx="10714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primary drivers of demand: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Historical momentum: </a:t>
            </a:r>
            <a:r>
              <a:rPr lang="en-GB" sz="2400" dirty="0"/>
              <a:t>Busy zones tend to stay busy.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Temporal features: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6251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F3EB79-1D3E-18D6-1BF3-F170288E4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" r="721" b="2"/>
          <a:stretch>
            <a:fillRect/>
          </a:stretch>
        </p:blipFill>
        <p:spPr>
          <a:xfrm>
            <a:off x="694047" y="1035004"/>
            <a:ext cx="6299064" cy="50815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41F9929-ABB0-1D78-967C-230C6BB8C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610" y="1202378"/>
            <a:ext cx="3637127" cy="3892762"/>
          </a:xfrm>
        </p:spPr>
        <p:txBody>
          <a:bodyPr>
            <a:noAutofit/>
          </a:bodyPr>
          <a:lstStyle/>
          <a:p>
            <a:r>
              <a:rPr lang="en-GB" sz="2400" dirty="0"/>
              <a:t>Demand also shows zone dependencies.</a:t>
            </a:r>
          </a:p>
          <a:p>
            <a:endParaRPr lang="en-GB" sz="2400" dirty="0"/>
          </a:p>
          <a:p>
            <a:r>
              <a:rPr lang="en-GB" sz="2400" dirty="0"/>
              <a:t>Highest predicted demand in zones 237, 161, and 236.</a:t>
            </a:r>
          </a:p>
          <a:p>
            <a:endParaRPr lang="en-GB" sz="2400" dirty="0"/>
          </a:p>
          <a:p>
            <a:r>
              <a:rPr lang="en-GB" sz="2400" dirty="0"/>
              <a:t>These represent the most reliable locations for consistent trip turnover.</a:t>
            </a:r>
          </a:p>
          <a:p>
            <a:endParaRPr lang="en-GB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907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D6897-326B-61A1-4E3F-BAB3B15C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ECF1-D56C-3CEA-4C9D-CD078A7C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47" y="167867"/>
            <a:ext cx="9692640" cy="1325562"/>
          </a:xfrm>
        </p:spPr>
        <p:txBody>
          <a:bodyPr/>
          <a:lstStyle/>
          <a:p>
            <a:r>
              <a:rPr lang="en-GB" dirty="0"/>
              <a:t>Revenue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DA5E7-6AC5-430A-2738-72E91F1DDF09}"/>
              </a:ext>
            </a:extLst>
          </p:cNvPr>
          <p:cNvSpPr txBox="1"/>
          <p:nvPr/>
        </p:nvSpPr>
        <p:spPr>
          <a:xfrm>
            <a:off x="675563" y="1988135"/>
            <a:ext cx="1000380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Model Selection</a:t>
            </a:r>
            <a:r>
              <a:rPr lang="en-GB" sz="2400" dirty="0"/>
              <a:t>: We evaluated Random Forest, </a:t>
            </a:r>
            <a:r>
              <a:rPr lang="en-GB" sz="2400" dirty="0" err="1"/>
              <a:t>XGBoost</a:t>
            </a:r>
            <a:r>
              <a:rPr lang="en-GB" sz="2400" dirty="0"/>
              <a:t> and Neural Network, ultimately selecting </a:t>
            </a:r>
            <a:r>
              <a:rPr lang="en-GB" sz="2400" dirty="0" err="1"/>
              <a:t>XGBoost</a:t>
            </a:r>
            <a:r>
              <a:rPr lang="en-GB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Predictive power (R Squared) of 0.90</a:t>
            </a:r>
            <a:r>
              <a:rPr lang="en-GB" sz="2400" dirty="0"/>
              <a:t>- successfully explaining 90% of the real-world variance in hourly revenue across Manhattan.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b="1" dirty="0"/>
          </a:p>
          <a:p>
            <a:endParaRPr lang="en-GB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Operation accuracy (MAE) of 342</a:t>
            </a:r>
            <a:r>
              <a:rPr lang="en-GB" sz="2400" dirty="0"/>
              <a:t>- predicts the total hourly revenue with a typical error of roughly $343.</a:t>
            </a:r>
          </a:p>
          <a:p>
            <a:endParaRPr lang="en-GB" sz="2400" b="1" dirty="0"/>
          </a:p>
          <a:p>
            <a:endParaRPr lang="en-GB" sz="2400" b="1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3886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2F25EE-B3ED-2604-3F68-B53E454284FF}"/>
              </a:ext>
            </a:extLst>
          </p:cNvPr>
          <p:cNvSpPr txBox="1"/>
          <p:nvPr/>
        </p:nvSpPr>
        <p:spPr>
          <a:xfrm>
            <a:off x="724514" y="882296"/>
            <a:ext cx="9646601" cy="1542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r>
              <a:rPr lang="en-GB" sz="2400" dirty="0"/>
              <a:t>Revenue is dictated by the same drivers as demand: </a:t>
            </a:r>
            <a:r>
              <a:rPr lang="en-GB" sz="2400" b="1" dirty="0"/>
              <a:t>historical momentum and temporal features</a:t>
            </a:r>
            <a:r>
              <a:rPr lang="en-GB" sz="2400" dirty="0"/>
              <a:t>.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endParaRPr lang="en-GB" sz="2400" dirty="0"/>
          </a:p>
          <a:p>
            <a:pPr marL="102870" indent="-285750" defTabSz="9144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GB" sz="2400" dirty="0"/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endParaRPr lang="en-US" sz="2400" b="1" dirty="0"/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endParaRPr lang="en-US" sz="2400" b="1" dirty="0"/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endParaRPr lang="en-US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5DC16C-846C-78F3-0609-F9D3E70F3ECD}"/>
              </a:ext>
            </a:extLst>
          </p:cNvPr>
          <p:cNvSpPr/>
          <p:nvPr/>
        </p:nvSpPr>
        <p:spPr>
          <a:xfrm>
            <a:off x="2152345" y="4203510"/>
            <a:ext cx="7489800" cy="230647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151411-EF95-2458-E1E1-5AC1DA26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694" y="4360460"/>
            <a:ext cx="6326139" cy="20243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37D9E2-BAED-DC76-6739-A6ACF86B703A}"/>
              </a:ext>
            </a:extLst>
          </p:cNvPr>
          <p:cNvSpPr txBox="1"/>
          <p:nvPr/>
        </p:nvSpPr>
        <p:spPr>
          <a:xfrm>
            <a:off x="1106652" y="1894351"/>
            <a:ext cx="9115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" indent="-285750" defTabSz="9144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400" dirty="0"/>
              <a:t>Mirrors demand patterns: 16:00 to 19:00 is the most critical window for maximising profitability.</a:t>
            </a:r>
          </a:p>
          <a:p>
            <a:pPr marL="102870" indent="-285750" defTabSz="9144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400" dirty="0"/>
              <a:t>Total earnings are fundamentally driven by trip density rather than isolated high-fare trips.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919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3B4BD-8CBC-3C8C-9BB6-4567F01E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1905F8-7AC6-CE52-3E1D-97C7DC6D7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98" y="880281"/>
            <a:ext cx="3869140" cy="4214859"/>
          </a:xfrm>
        </p:spPr>
        <p:txBody>
          <a:bodyPr>
            <a:noAutofit/>
          </a:bodyPr>
          <a:lstStyle/>
          <a:p>
            <a:r>
              <a:rPr lang="en-GB" sz="2400" dirty="0"/>
              <a:t>Top revenue-generating zones largely over-lap with high-demand areas (161 and 237).</a:t>
            </a:r>
          </a:p>
          <a:p>
            <a:r>
              <a:rPr lang="en-GB" sz="2400" dirty="0"/>
              <a:t>Ordering of these zones varies between the demand and revenue models.</a:t>
            </a:r>
          </a:p>
          <a:p>
            <a:r>
              <a:rPr lang="en-GB" sz="2400" dirty="0"/>
              <a:t>Certain neighbourhoods may yield higher revenue through longer-distance trips</a:t>
            </a:r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BEE72-9498-625A-AE2E-9C3C7C97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58" y="1042146"/>
            <a:ext cx="6383318" cy="504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5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907A-DD74-C6F2-265F-6C8107133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8" y="-307894"/>
            <a:ext cx="9692640" cy="1325562"/>
          </a:xfrm>
        </p:spPr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DC08C1-DE64-6945-685C-79458BE8A79F}"/>
              </a:ext>
            </a:extLst>
          </p:cNvPr>
          <p:cNvSpPr/>
          <p:nvPr/>
        </p:nvSpPr>
        <p:spPr>
          <a:xfrm>
            <a:off x="586309" y="1325562"/>
            <a:ext cx="10195420" cy="9075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9E783-A4AB-928E-7747-0D8CC49E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2" y="1462039"/>
            <a:ext cx="10104442" cy="791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The Afternoon Rush (16:00–19:00):</a:t>
            </a:r>
            <a:r>
              <a:rPr lang="en-GB" sz="2200" dirty="0"/>
              <a:t> Maintain high driver density to capture peak revenue and minimise wait times.</a:t>
            </a:r>
          </a:p>
          <a:p>
            <a:endParaRPr lang="en-GB" sz="22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EAB800-442B-2781-5947-05F5EBFDC4C0}"/>
              </a:ext>
            </a:extLst>
          </p:cNvPr>
          <p:cNvSpPr/>
          <p:nvPr/>
        </p:nvSpPr>
        <p:spPr>
          <a:xfrm>
            <a:off x="586309" y="2406578"/>
            <a:ext cx="10209068" cy="9075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37200C-1F5B-3A64-839E-7ADD848F3953}"/>
              </a:ext>
            </a:extLst>
          </p:cNvPr>
          <p:cNvSpPr/>
          <p:nvPr/>
        </p:nvSpPr>
        <p:spPr>
          <a:xfrm>
            <a:off x="595404" y="3450620"/>
            <a:ext cx="10186325" cy="9075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D9BE47-9043-6412-1086-E366003D0126}"/>
              </a:ext>
            </a:extLst>
          </p:cNvPr>
          <p:cNvSpPr/>
          <p:nvPr/>
        </p:nvSpPr>
        <p:spPr>
          <a:xfrm>
            <a:off x="595404" y="4488386"/>
            <a:ext cx="10186325" cy="9075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023890-7D5E-C283-885E-6BEE082EEB24}"/>
              </a:ext>
            </a:extLst>
          </p:cNvPr>
          <p:cNvSpPr/>
          <p:nvPr/>
        </p:nvSpPr>
        <p:spPr>
          <a:xfrm>
            <a:off x="609051" y="5526152"/>
            <a:ext cx="10186325" cy="9075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244161-B358-0B1F-3E68-8D0E03FC42B6}"/>
              </a:ext>
            </a:extLst>
          </p:cNvPr>
          <p:cNvSpPr txBox="1">
            <a:spLocks/>
          </p:cNvSpPr>
          <p:nvPr/>
        </p:nvSpPr>
        <p:spPr>
          <a:xfrm>
            <a:off x="595404" y="2493821"/>
            <a:ext cx="10118090" cy="926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/>
              <a:t>Demand buffer: </a:t>
            </a:r>
            <a:r>
              <a:rPr lang="en-GB" sz="2200" dirty="0"/>
              <a:t>Implement a driver surplus during the 18:00 peak to absorb high variability and ensure service consistency.</a:t>
            </a:r>
          </a:p>
          <a:p>
            <a:endParaRPr lang="en-GB" sz="22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F8CAE75-8CF0-557E-5C9D-88A4DDEE7AB1}"/>
              </a:ext>
            </a:extLst>
          </p:cNvPr>
          <p:cNvSpPr txBox="1">
            <a:spLocks/>
          </p:cNvSpPr>
          <p:nvPr/>
        </p:nvSpPr>
        <p:spPr>
          <a:xfrm>
            <a:off x="609051" y="5584154"/>
            <a:ext cx="10049850" cy="791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/>
              <a:t>Zone prioritisation: </a:t>
            </a:r>
            <a:r>
              <a:rPr lang="en-GB" sz="2200" dirty="0"/>
              <a:t>Strategically position drivers within high-turnover Zones (37, 161,236, 230, 186 and 162).</a:t>
            </a:r>
            <a:endParaRPr lang="en-GB" sz="2200" b="1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D61CC12-A015-357D-4C3D-7F6CBA1D320B}"/>
              </a:ext>
            </a:extLst>
          </p:cNvPr>
          <p:cNvSpPr txBox="1">
            <a:spLocks/>
          </p:cNvSpPr>
          <p:nvPr/>
        </p:nvSpPr>
        <p:spPr>
          <a:xfrm>
            <a:off x="609052" y="4571701"/>
            <a:ext cx="10240918" cy="889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/>
              <a:t>Scheduled downtime: </a:t>
            </a:r>
            <a:r>
              <a:rPr lang="en-GB" sz="2400" dirty="0"/>
              <a:t>Use low-demand Sundays for vehicle maintenance and driver downtime to maximise the reliability of the service.</a:t>
            </a:r>
          </a:p>
          <a:p>
            <a:endParaRPr lang="en-GB" sz="1600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E468578-55B4-A323-F60D-679D173F66E1}"/>
              </a:ext>
            </a:extLst>
          </p:cNvPr>
          <p:cNvSpPr txBox="1">
            <a:spLocks/>
          </p:cNvSpPr>
          <p:nvPr/>
        </p:nvSpPr>
        <p:spPr>
          <a:xfrm>
            <a:off x="609051" y="3566626"/>
            <a:ext cx="10049850" cy="791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b="1" dirty="0"/>
              <a:t>Weekend Shift-Delay:</a:t>
            </a:r>
            <a:r>
              <a:rPr lang="en-GB" sz="2200" dirty="0"/>
              <a:t> Move weekend start times from 07:00 to 10:00 to align supply with the late-evening leisure surge.</a:t>
            </a:r>
          </a:p>
          <a:p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189877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62268-267B-F4E9-D6C2-1F4F9D05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73" y="-98264"/>
            <a:ext cx="9692640" cy="1325562"/>
          </a:xfrm>
        </p:spPr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78192D-F035-6687-4DC3-1EA9C7BCBDAA}"/>
              </a:ext>
            </a:extLst>
          </p:cNvPr>
          <p:cNvSpPr/>
          <p:nvPr/>
        </p:nvSpPr>
        <p:spPr>
          <a:xfrm>
            <a:off x="911763" y="1514905"/>
            <a:ext cx="9271650" cy="27773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F5E6-F6E1-4053-ADE4-85C8AAC5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14" y="1624087"/>
            <a:ext cx="8595360" cy="2777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Current models trained on 2024 NYC Taxi data, relying on historical and temporal patterns, so they don’t account for :</a:t>
            </a:r>
          </a:p>
          <a:p>
            <a:r>
              <a:rPr lang="en-GB" sz="2400" b="1" dirty="0"/>
              <a:t>Real-time shocks </a:t>
            </a:r>
            <a:r>
              <a:rPr lang="en-GB" sz="2400" dirty="0"/>
              <a:t>(e.g. heavy snow, protests or sudden road closures).</a:t>
            </a:r>
          </a:p>
          <a:p>
            <a:r>
              <a:rPr lang="en-GB" sz="2400" b="1" dirty="0"/>
              <a:t>Future Urban shifts </a:t>
            </a:r>
            <a:r>
              <a:rPr lang="en-GB" sz="2400" dirty="0"/>
              <a:t>(e.g. adjustments to work from home policies or public transport infrastructure)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80F47B-FB55-5EAA-51DB-8868392F468D}"/>
              </a:ext>
            </a:extLst>
          </p:cNvPr>
          <p:cNvSpPr/>
          <p:nvPr/>
        </p:nvSpPr>
        <p:spPr>
          <a:xfrm>
            <a:off x="844568" y="4593207"/>
            <a:ext cx="9972327" cy="17863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DB774-8721-E3BF-5DAC-942974602A72}"/>
              </a:ext>
            </a:extLst>
          </p:cNvPr>
          <p:cNvSpPr txBox="1"/>
          <p:nvPr/>
        </p:nvSpPr>
        <p:spPr>
          <a:xfrm>
            <a:off x="954797" y="4780466"/>
            <a:ext cx="9751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dirty="0"/>
              <a:t>Future iterations of the models could include real-time weather and traffic feeds, as well as a re-training pipeline that updates the model daily with internal platform data.</a:t>
            </a:r>
          </a:p>
        </p:txBody>
      </p:sp>
    </p:spTree>
    <p:extLst>
      <p:ext uri="{BB962C8B-B14F-4D97-AF65-F5344CB8AC3E}">
        <p14:creationId xmlns:p14="http://schemas.microsoft.com/office/powerpoint/2010/main" val="342001216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225</TotalTime>
  <Words>710</Words>
  <Application>Microsoft Office PowerPoint</Application>
  <PresentationFormat>Widescreen</PresentationFormat>
  <Paragraphs>71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Schoolbook</vt:lpstr>
      <vt:lpstr>Wingdings 2</vt:lpstr>
      <vt:lpstr>View</vt:lpstr>
      <vt:lpstr>Predictive Modelling for Ride-Hailing service</vt:lpstr>
      <vt:lpstr>Aims</vt:lpstr>
      <vt:lpstr>Data preprocessing</vt:lpstr>
      <vt:lpstr>Feature engineering</vt:lpstr>
      <vt:lpstr>Demand analysis</vt:lpstr>
      <vt:lpstr>PowerPoint Presentation</vt:lpstr>
      <vt:lpstr>PowerPoint Presentation</vt:lpstr>
      <vt:lpstr>Revenue insights</vt:lpstr>
      <vt:lpstr>PowerPoint Presentation</vt:lpstr>
      <vt:lpstr>PowerPoint Presentation</vt:lpstr>
      <vt:lpstr>Recommendations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 Reynolds</dc:creator>
  <cp:lastModifiedBy>Mia Reynolds</cp:lastModifiedBy>
  <cp:revision>2</cp:revision>
  <dcterms:created xsi:type="dcterms:W3CDTF">2026-04-16T21:18:40Z</dcterms:created>
  <dcterms:modified xsi:type="dcterms:W3CDTF">2026-04-18T11:21:11Z</dcterms:modified>
</cp:coreProperties>
</file>